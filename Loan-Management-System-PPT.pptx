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1"/>
  </p:sldMasterIdLst>
  <p:notesMasterIdLst>
    <p:notesMasterId r:id="rId22"/>
  </p:notesMasterIdLst>
  <p:sldIdLst>
    <p:sldId id="256" r:id="rId2"/>
    <p:sldId id="266" r:id="rId3"/>
    <p:sldId id="267" r:id="rId4"/>
    <p:sldId id="259" r:id="rId5"/>
    <p:sldId id="260" r:id="rId6"/>
    <p:sldId id="268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</p:sldIdLst>
  <p:sldSz cx="14630400" cy="8229600"/>
  <p:notesSz cx="8229600" cy="14630400"/>
  <p:embeddedFontLst>
    <p:embeddedFont>
      <p:font typeface="Tahoma" panose="020B0604030504040204" pitchFamily="34" charset="0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81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9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5759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815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740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32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34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041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684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8631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220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831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882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1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871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02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31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60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0317" y="940255"/>
            <a:ext cx="11809765" cy="20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6000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Loan Management System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79690" y="28273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Technology Stack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634540" y="37806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Backend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34540" y="4371961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Java Microservices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634540" y="4970370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Scalable architecture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34540" y="5437095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Independent service deployment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34540" y="6286844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High availability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29545" y="37806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Frontend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29545" y="4371961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Angular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29545" y="4970370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Responsive user interface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029545" y="5437095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Real-time updates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29545" y="5903820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Modern web experience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C0B2FD1-9885-AC5D-CD55-BEC30DA7796B}"/>
              </a:ext>
            </a:extLst>
          </p:cNvPr>
          <p:cNvSpPr/>
          <p:nvPr/>
        </p:nvSpPr>
        <p:spPr>
          <a:xfrm>
            <a:off x="9810603" y="2853134"/>
            <a:ext cx="3694670" cy="4518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281451F-D23E-0CA2-F161-761F2AD1068C}"/>
              </a:ext>
            </a:extLst>
          </p:cNvPr>
          <p:cNvSpPr/>
          <p:nvPr/>
        </p:nvSpPr>
        <p:spPr>
          <a:xfrm>
            <a:off x="5246329" y="2853134"/>
            <a:ext cx="3694670" cy="4518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D5BCA0-3AE2-5F99-DE93-C21ACCB8966D}"/>
              </a:ext>
            </a:extLst>
          </p:cNvPr>
          <p:cNvSpPr/>
          <p:nvPr/>
        </p:nvSpPr>
        <p:spPr>
          <a:xfrm>
            <a:off x="827903" y="2853134"/>
            <a:ext cx="3694670" cy="4518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92853-20A1-C0F4-FCFE-0B04D8DA277A}"/>
              </a:ext>
            </a:extLst>
          </p:cNvPr>
          <p:cNvSpPr txBox="1"/>
          <p:nvPr/>
        </p:nvSpPr>
        <p:spPr>
          <a:xfrm>
            <a:off x="2248786" y="414670"/>
            <a:ext cx="10132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Management System</a:t>
            </a:r>
          </a:p>
          <a:p>
            <a:pPr algn="ctr"/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393EF3-B3D2-13C9-FDF1-E7A84BCE9067}"/>
              </a:ext>
            </a:extLst>
          </p:cNvPr>
          <p:cNvSpPr txBox="1"/>
          <p:nvPr/>
        </p:nvSpPr>
        <p:spPr>
          <a:xfrm>
            <a:off x="1297171" y="1045871"/>
            <a:ext cx="78983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7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end-to-end, microservices-enabled digital lending platform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loan application, approval, EMI calculation, and repayment tracking.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secure, scalable, and role-based access for all users.</a:t>
            </a:r>
          </a:p>
          <a:p>
            <a:endParaRPr lang="en-IN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C14464-2C8F-D4D8-D37D-2B6A64AB589D}"/>
              </a:ext>
            </a:extLst>
          </p:cNvPr>
          <p:cNvSpPr txBox="1"/>
          <p:nvPr/>
        </p:nvSpPr>
        <p:spPr>
          <a:xfrm>
            <a:off x="1133046" y="3315026"/>
            <a:ext cx="2665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b="1" u="sng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834183-BD43-2FFC-F07F-425F73BCCB2D}"/>
              </a:ext>
            </a:extLst>
          </p:cNvPr>
          <p:cNvSpPr txBox="1"/>
          <p:nvPr/>
        </p:nvSpPr>
        <p:spPr>
          <a:xfrm>
            <a:off x="1133046" y="4192450"/>
            <a:ext cx="29558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loan systems are manual, time-consuming, and lack transparency in loan processing.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73BC8-50EF-D277-055D-09F15F4B97CC}"/>
              </a:ext>
            </a:extLst>
          </p:cNvPr>
          <p:cNvSpPr txBox="1"/>
          <p:nvPr/>
        </p:nvSpPr>
        <p:spPr>
          <a:xfrm>
            <a:off x="6525005" y="3315025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898EF4-34CA-CD46-B697-6D2DFB65E2F9}"/>
              </a:ext>
            </a:extLst>
          </p:cNvPr>
          <p:cNvSpPr txBox="1"/>
          <p:nvPr/>
        </p:nvSpPr>
        <p:spPr>
          <a:xfrm>
            <a:off x="5569991" y="3957323"/>
            <a:ext cx="3338623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Cloud-ready microservices architecture with Angular frontend providing: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loan applications with instant status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EMI calculations and payment schedules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Multi-role access (Customer, Loan Officer, Admin)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and comprehensive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D60E3F-B374-F27D-DA49-08399821BA17}"/>
              </a:ext>
            </a:extLst>
          </p:cNvPr>
          <p:cNvSpPr txBox="1"/>
          <p:nvPr/>
        </p:nvSpPr>
        <p:spPr>
          <a:xfrm>
            <a:off x="10412757" y="3315026"/>
            <a:ext cx="2490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43BD1190-D0B5-C90E-DF8F-BD9442A6C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BDFCBD-DC39-DE7E-7479-61854D0BA37D}"/>
              </a:ext>
            </a:extLst>
          </p:cNvPr>
          <p:cNvSpPr txBox="1"/>
          <p:nvPr/>
        </p:nvSpPr>
        <p:spPr>
          <a:xfrm>
            <a:off x="10076977" y="4192450"/>
            <a:ext cx="3674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Boot (Microservices)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Angular 17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alt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JWT Authentication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altLang="en-US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Docker</a:t>
            </a:r>
          </a:p>
          <a:p>
            <a:endParaRPr lang="en-IN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20627-3B6C-026E-FA97-FABC7589D16D}"/>
              </a:ext>
            </a:extLst>
          </p:cNvPr>
          <p:cNvSpPr txBox="1"/>
          <p:nvPr/>
        </p:nvSpPr>
        <p:spPr>
          <a:xfrm>
            <a:off x="1133046" y="7655423"/>
            <a:ext cx="11030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Faster approvals, better customer experience, operational efficiency, and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12341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959AC7-5578-C5BC-7CF3-38CC99C9AFA8}"/>
              </a:ext>
            </a:extLst>
          </p:cNvPr>
          <p:cNvSpPr/>
          <p:nvPr/>
        </p:nvSpPr>
        <p:spPr>
          <a:xfrm>
            <a:off x="837724" y="888087"/>
            <a:ext cx="79890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System Architecture Overview</a:t>
            </a:r>
            <a:endParaRPr lang="en-US" sz="4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73D2A3-791F-F522-ED28-D3C0DE4DBF4B}"/>
              </a:ext>
            </a:extLst>
          </p:cNvPr>
          <p:cNvSpPr/>
          <p:nvPr/>
        </p:nvSpPr>
        <p:spPr>
          <a:xfrm>
            <a:off x="837724" y="207085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Loan Management System follows a cloud-ready microservices architecture that ensures scalability, security, and independent service deployment.</a:t>
            </a:r>
            <a:endParaRPr lang="en-US" sz="18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AE8AD3-ED77-E6F1-8E45-4BD2C5698561}"/>
              </a:ext>
            </a:extLst>
          </p:cNvPr>
          <p:cNvSpPr/>
          <p:nvPr/>
        </p:nvSpPr>
        <p:spPr>
          <a:xfrm>
            <a:off x="837724" y="310610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 Light" pitchFamily="34" charset="-122"/>
                <a:cs typeface="Times New Roman" panose="02020603050405020304" pitchFamily="18" charset="0"/>
              </a:rPr>
              <a:t>01</a:t>
            </a:r>
            <a:endParaRPr lang="en-US" sz="18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ACCB50-A862-A25A-7198-6A198C7BB6B5}"/>
              </a:ext>
            </a:extLst>
          </p:cNvPr>
          <p:cNvSpPr/>
          <p:nvPr/>
        </p:nvSpPr>
        <p:spPr>
          <a:xfrm>
            <a:off x="837724" y="3482459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28D58C-627E-0605-3FE5-0A867E07B8D0}"/>
              </a:ext>
            </a:extLst>
          </p:cNvPr>
          <p:cNvSpPr/>
          <p:nvPr/>
        </p:nvSpPr>
        <p:spPr>
          <a:xfrm>
            <a:off x="837724" y="3663077"/>
            <a:ext cx="32532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Service</a:t>
            </a:r>
            <a:endParaRPr lang="en-US" sz="2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2AB393-10FF-E73A-5B8D-C663E6A08E87}"/>
              </a:ext>
            </a:extLst>
          </p:cNvPr>
          <p:cNvSpPr/>
          <p:nvPr/>
        </p:nvSpPr>
        <p:spPr>
          <a:xfrm>
            <a:off x="837724" y="4068305"/>
            <a:ext cx="6254192" cy="118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role-based access control for Admin, Loan Officer, and Customer.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JWT-based authentication.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C4729E-2D68-84A0-2789-4669E1F8BA17}"/>
              </a:ext>
            </a:extLst>
          </p:cNvPr>
          <p:cNvSpPr/>
          <p:nvPr/>
        </p:nvSpPr>
        <p:spPr>
          <a:xfrm>
            <a:off x="7434858" y="310610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 Light" pitchFamily="34" charset="-122"/>
                <a:cs typeface="Times New Roman" panose="02020603050405020304" pitchFamily="18" charset="0"/>
              </a:rPr>
              <a:t>02</a:t>
            </a:r>
            <a:endParaRPr lang="en-US" sz="18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AAD7A87-1ACF-A7A3-37FE-F492FA94C4DA}"/>
              </a:ext>
            </a:extLst>
          </p:cNvPr>
          <p:cNvSpPr/>
          <p:nvPr/>
        </p:nvSpPr>
        <p:spPr>
          <a:xfrm>
            <a:off x="7434858" y="3482459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75BAFBC-698D-8193-B26C-A17FAB8D0804}"/>
              </a:ext>
            </a:extLst>
          </p:cNvPr>
          <p:cNvSpPr/>
          <p:nvPr/>
        </p:nvSpPr>
        <p:spPr>
          <a:xfrm>
            <a:off x="7434858" y="3663077"/>
            <a:ext cx="346626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 Service</a:t>
            </a:r>
            <a:endParaRPr lang="en-US" sz="2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8996C2-7B2C-FA71-C765-92A13AEFEAAB}"/>
              </a:ext>
            </a:extLst>
          </p:cNvPr>
          <p:cNvSpPr/>
          <p:nvPr/>
        </p:nvSpPr>
        <p:spPr>
          <a:xfrm>
            <a:off x="7434858" y="4158615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Manages loan applications submitted by customers.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Tracks application status (Submitted, Approved, Rejected).</a:t>
            </a:r>
          </a:p>
          <a:p>
            <a:pPr marL="342900" indent="-342900" algn="l">
              <a:lnSpc>
                <a:spcPts val="3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6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6CDAAB-DB45-DA16-3AC0-08CEAEAD86FB}"/>
              </a:ext>
            </a:extLst>
          </p:cNvPr>
          <p:cNvSpPr/>
          <p:nvPr/>
        </p:nvSpPr>
        <p:spPr>
          <a:xfrm>
            <a:off x="837724" y="53434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 Light" pitchFamily="34" charset="-122"/>
                <a:cs typeface="Times New Roman" panose="02020603050405020304" pitchFamily="18" charset="0"/>
              </a:rPr>
              <a:t>03</a:t>
            </a:r>
            <a:endParaRPr lang="en-US" sz="18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DB88701-744E-78C5-DFB3-F519018AA21D}"/>
              </a:ext>
            </a:extLst>
          </p:cNvPr>
          <p:cNvSpPr/>
          <p:nvPr/>
        </p:nvSpPr>
        <p:spPr>
          <a:xfrm>
            <a:off x="837724" y="5719763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F3B9591-D37C-58C1-3FC5-EA3205BFEDF9}"/>
              </a:ext>
            </a:extLst>
          </p:cNvPr>
          <p:cNvSpPr/>
          <p:nvPr/>
        </p:nvSpPr>
        <p:spPr>
          <a:xfrm>
            <a:off x="837724" y="5900380"/>
            <a:ext cx="296418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Service</a:t>
            </a:r>
            <a:endParaRPr lang="en-US" sz="2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779A16-73E6-E6A2-B898-DFD4EBF16164}"/>
              </a:ext>
            </a:extLst>
          </p:cNvPr>
          <p:cNvSpPr/>
          <p:nvPr/>
        </p:nvSpPr>
        <p:spPr>
          <a:xfrm>
            <a:off x="837724" y="6317033"/>
            <a:ext cx="6357818" cy="103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loan details and outstanding balances.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loan approval, EMI calculation, and repayment schedules.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6658BB-6BFC-F9A5-E912-4A34616656EA}"/>
              </a:ext>
            </a:extLst>
          </p:cNvPr>
          <p:cNvSpPr/>
          <p:nvPr/>
        </p:nvSpPr>
        <p:spPr>
          <a:xfrm>
            <a:off x="7434858" y="53434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 Light" pitchFamily="34" charset="-122"/>
                <a:cs typeface="Times New Roman" panose="02020603050405020304" pitchFamily="18" charset="0"/>
              </a:rPr>
              <a:t>04</a:t>
            </a:r>
            <a:endParaRPr lang="en-US" sz="18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D0F7593-16D5-FF37-0DAC-F81EE8ECDE16}"/>
              </a:ext>
            </a:extLst>
          </p:cNvPr>
          <p:cNvSpPr/>
          <p:nvPr/>
        </p:nvSpPr>
        <p:spPr>
          <a:xfrm>
            <a:off x="7434858" y="5719763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844CC38-528D-2758-57AD-3E63FDB1231B}"/>
              </a:ext>
            </a:extLst>
          </p:cNvPr>
          <p:cNvSpPr/>
          <p:nvPr/>
        </p:nvSpPr>
        <p:spPr>
          <a:xfrm>
            <a:off x="7434858" y="59003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Notification Service</a:t>
            </a:r>
            <a:endParaRPr lang="en-US" sz="2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BBFDCE7-E9EE-B5B0-6FDA-8E482698E49A}"/>
              </a:ext>
            </a:extLst>
          </p:cNvPr>
          <p:cNvSpPr/>
          <p:nvPr/>
        </p:nvSpPr>
        <p:spPr>
          <a:xfrm>
            <a:off x="7434858" y="6395918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into loan status and repayment tracking.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system notifications and loan-related reports.</a:t>
            </a:r>
          </a:p>
        </p:txBody>
      </p:sp>
    </p:spTree>
    <p:extLst>
      <p:ext uri="{BB962C8B-B14F-4D97-AF65-F5344CB8AC3E}">
        <p14:creationId xmlns:p14="http://schemas.microsoft.com/office/powerpoint/2010/main" val="187553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858EFF-324F-D4A6-2EC0-BCF91A21151B}"/>
              </a:ext>
            </a:extLst>
          </p:cNvPr>
          <p:cNvSpPr/>
          <p:nvPr/>
        </p:nvSpPr>
        <p:spPr>
          <a:xfrm>
            <a:off x="9314953" y="4926975"/>
            <a:ext cx="3694670" cy="24451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7DEE70-D433-9C5F-A2B5-0D88781F5BEE}"/>
              </a:ext>
            </a:extLst>
          </p:cNvPr>
          <p:cNvSpPr/>
          <p:nvPr/>
        </p:nvSpPr>
        <p:spPr>
          <a:xfrm>
            <a:off x="5283586" y="4922537"/>
            <a:ext cx="3694670" cy="24451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9956AA-8693-25D8-428F-475A4C2B9391}"/>
              </a:ext>
            </a:extLst>
          </p:cNvPr>
          <p:cNvSpPr/>
          <p:nvPr/>
        </p:nvSpPr>
        <p:spPr>
          <a:xfrm>
            <a:off x="1252219" y="4926975"/>
            <a:ext cx="3694670" cy="24451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775936" y="5156148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Scalability</a:t>
            </a:r>
            <a:endParaRPr lang="en-US" sz="175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775936" y="5639032"/>
            <a:ext cx="2647236" cy="1179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microservices allow horizontal scaling based on system load.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14001" y="5156148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Modularity</a:t>
            </a:r>
            <a:endParaRPr lang="en-US" sz="175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494342" y="5159613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Resilience</a:t>
            </a:r>
            <a:endParaRPr lang="en-US" sz="175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1639609" y="524351"/>
            <a:ext cx="4759167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Technical Architecture</a:t>
            </a:r>
            <a:endParaRPr lang="en-US" sz="3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9610" y="1561743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Core Components</a:t>
            </a:r>
            <a:endParaRPr lang="en-US" sz="175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39609" y="2032754"/>
            <a:ext cx="11895637" cy="463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 handles request routing, JWT authentication, and role-based authorization for all client requests.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39610" y="2515970"/>
            <a:ext cx="11895636" cy="371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Frontend provides a responsive user interface for customers, loan officers, and administrators.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39609" y="3066209"/>
            <a:ext cx="11137464" cy="45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RESTful Microservices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and efficient communication between frontend and backend services.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39609" y="3558184"/>
            <a:ext cx="11137463" cy="75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(PostgreSQL)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loan, and repayment data with transactional consistency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14002" y="5639032"/>
            <a:ext cx="3315924" cy="185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Loosely coupled services enable easier maintenance and faster feature development.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547503" y="5655478"/>
            <a:ext cx="3229570" cy="183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isolation ensures that failure in one service does not impact the entire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87035" y="400090"/>
            <a:ext cx="5329595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Architecture Diagram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8784" y="1196410"/>
            <a:ext cx="13056870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secure, scalable microservices architecture with an API Gateway, independent backend services, and dedicated databases.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529E8-AD98-74AE-2B2C-6B50C89303B4}"/>
              </a:ext>
            </a:extLst>
          </p:cNvPr>
          <p:cNvSpPr/>
          <p:nvPr/>
        </p:nvSpPr>
        <p:spPr>
          <a:xfrm>
            <a:off x="12544746" y="7453901"/>
            <a:ext cx="1941816" cy="65241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DAE452-30A9-2DF4-6954-E951FBF3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5549"/>
            <a:ext cx="14630400" cy="6314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CFA655-6B98-7764-8F53-B37E0F546CF7}"/>
              </a:ext>
            </a:extLst>
          </p:cNvPr>
          <p:cNvSpPr txBox="1"/>
          <p:nvPr/>
        </p:nvSpPr>
        <p:spPr>
          <a:xfrm>
            <a:off x="81022" y="14954"/>
            <a:ext cx="14549377" cy="67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800" b="1" u="sng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Entity Relationship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562EB-7442-9643-FC5C-658A4755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68" y="858982"/>
            <a:ext cx="6912077" cy="7242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8202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660" y="466367"/>
            <a:ext cx="341352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Data Model Introduction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87228" y="1159208"/>
            <a:ext cx="13230134" cy="235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Loan Management System follows a distributed data model where each microservice maintains its own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references are used between services to ensure loose coupling, scalability, and independent data management.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378184" y="6959917"/>
            <a:ext cx="3695938" cy="920591"/>
          </a:xfrm>
          <a:prstGeom prst="roundRect">
            <a:avLst>
              <a:gd name="adj" fmla="val 7946"/>
            </a:avLst>
          </a:prstGeom>
          <a:solidFill>
            <a:srgbClr val="FEF5E7"/>
          </a:solidFill>
          <a:ln/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4A31D8A-0961-3802-6191-607E3D01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70" y="2063578"/>
            <a:ext cx="11660659" cy="6042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25664-43A5-0BCE-4762-11C800CD63EC}"/>
              </a:ext>
            </a:extLst>
          </p:cNvPr>
          <p:cNvSpPr txBox="1"/>
          <p:nvPr/>
        </p:nvSpPr>
        <p:spPr>
          <a:xfrm>
            <a:off x="544925" y="324464"/>
            <a:ext cx="2090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cases:-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B7352-12C3-317B-16B0-F4DEC402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195262"/>
            <a:ext cx="8772525" cy="783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2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01E96-D68C-4BEA-3E2E-A4C370027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2" y="0"/>
            <a:ext cx="14584457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5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7F90C-FC26-2AA2-C640-CF9164C5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876" y="358345"/>
            <a:ext cx="10305535" cy="771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16DC7-612C-92D2-C0E7-38C28948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" y="0"/>
            <a:ext cx="1459842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8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848F5-0596-3BB0-A280-680F877C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2" y="123568"/>
            <a:ext cx="13717966" cy="810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21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776AC-C313-5DDB-9952-E1B73B575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5" y="0"/>
            <a:ext cx="14383264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7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99683-D7C2-3D2E-DF34-B541FCA3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885" y="135924"/>
            <a:ext cx="9976629" cy="809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3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2E805-1B29-2D2E-0892-93AA8CF642F0}"/>
              </a:ext>
            </a:extLst>
          </p:cNvPr>
          <p:cNvSpPr txBox="1"/>
          <p:nvPr/>
        </p:nvSpPr>
        <p:spPr>
          <a:xfrm>
            <a:off x="5288824" y="165038"/>
            <a:ext cx="3387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diagrams:-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042C8-2D5F-9B89-4666-CDB6BEBC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258"/>
            <a:ext cx="14630400" cy="75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B1F56C-05E2-DE3B-9AD4-A58DBC2FF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1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95D2A2-BC92-3DC0-347A-46D6D5B7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71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4D78914-131E-DCBA-4DC4-859EF534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8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528F18C-E87A-E203-0B47-865A29AA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716897" cy="82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8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C759EA-1CCA-465E-4491-009D6B3AB653}"/>
              </a:ext>
            </a:extLst>
          </p:cNvPr>
          <p:cNvSpPr/>
          <p:nvPr/>
        </p:nvSpPr>
        <p:spPr>
          <a:xfrm>
            <a:off x="568411" y="2187145"/>
            <a:ext cx="6549081" cy="46461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37BE0-791B-8B0F-3544-6F78F3BFB6F1}"/>
              </a:ext>
            </a:extLst>
          </p:cNvPr>
          <p:cNvSpPr txBox="1"/>
          <p:nvPr/>
        </p:nvSpPr>
        <p:spPr>
          <a:xfrm>
            <a:off x="1717589" y="1445741"/>
            <a:ext cx="483555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&amp; Advanced Features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EDBB9-8B66-A00C-CE93-18E016D44B14}"/>
              </a:ext>
            </a:extLst>
          </p:cNvPr>
          <p:cNvSpPr txBox="1"/>
          <p:nvPr/>
        </p:nvSpPr>
        <p:spPr>
          <a:xfrm>
            <a:off x="654908" y="2619632"/>
            <a:ext cx="654908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ML Integration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Assessment: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models to predict loan default probability.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Credit Scoring: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AI-based credit score calculation using customer financial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Anomaly detection to identify suspicious or fraudulent loan applications.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Support: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chatbot for customer queries and loan assistance.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Verification: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 and AI-based automatic KYC document validation.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Recommendation Engine: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loan suggestions based on customer profile and history.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03763-4E04-C642-9ACA-71632EE7B800}"/>
              </a:ext>
            </a:extLst>
          </p:cNvPr>
          <p:cNvSpPr txBox="1"/>
          <p:nvPr/>
        </p:nvSpPr>
        <p:spPr>
          <a:xfrm>
            <a:off x="8971005" y="143338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Enhancements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F8A48A-DEFB-7498-FA5C-66DF58F7E57C}"/>
              </a:ext>
            </a:extLst>
          </p:cNvPr>
          <p:cNvSpPr/>
          <p:nvPr/>
        </p:nvSpPr>
        <p:spPr>
          <a:xfrm>
            <a:off x="7677665" y="2187145"/>
            <a:ext cx="6549081" cy="46461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678636E-66A6-4F70-2844-57123548C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5968" y="2960638"/>
            <a:ext cx="59683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Chat Support: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communication between customers and loan officers.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tracking of loan status, EMIs,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Instant mobile and browser notifications for approvals, reminders, and alerts.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system updates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0014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</TotalTime>
  <Words>582</Words>
  <Application>Microsoft Office PowerPoint</Application>
  <PresentationFormat>Custom</PresentationFormat>
  <Paragraphs>88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Times New Roman</vt:lpstr>
      <vt:lpstr>Courier New</vt:lpstr>
      <vt:lpstr>Calibri</vt:lpstr>
      <vt:lpstr>Arial</vt:lpstr>
      <vt:lpstr>Wingdings</vt:lpstr>
      <vt:lpstr>Tahoma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nidhish.2005@outlook.com</cp:lastModifiedBy>
  <cp:revision>2</cp:revision>
  <dcterms:created xsi:type="dcterms:W3CDTF">2026-01-06T09:52:11Z</dcterms:created>
  <dcterms:modified xsi:type="dcterms:W3CDTF">2026-01-06T12:09:30Z</dcterms:modified>
</cp:coreProperties>
</file>